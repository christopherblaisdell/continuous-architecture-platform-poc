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talking points:</a:t>
            </a:r>
          </a:p>
          <a:p>
            <a:r>
              <a:t>- We've built a proof of concept that transforms how our architecture practice works</a:t>
            </a:r>
          </a:p>
          <a:p>
            <a:r>
              <a:t>- This builds directly on our existing strengths - Git-controlled specs and production gating</a:t>
            </a:r>
          </a:p>
          <a:p>
            <a:r>
              <a:t>- Everything I'll show you is already deployed and working</a:t>
            </a:r>
          </a:p>
          <a:p>
            <a:r>
              <a:t>- Total time to present: 15-20 minutes</a:t>
            </a:r>
          </a:p>
          <a:p>
            <a:r>
              <a:t>- Live portal demo included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points:</a:t>
            </a:r>
          </a:p>
          <a:p>
            <a:r>
              <a:t>- Emphasize that our Git-based foundation is already strong - most companies don't have this</a:t>
            </a:r>
          </a:p>
          <a:p>
            <a:r>
              <a:t>- Gap 1: Confluence updates are voluntary, so they get skipped. The browsable docs stakeholders use fall behind.</a:t>
            </a:r>
          </a:p>
          <a:p>
            <a:r>
              <a:t>- Gap 2: After deployment, we never verify the code matches the design. Specs describe intent, not reality.</a:t>
            </a:r>
          </a:p>
          <a:p>
            <a:r>
              <a:t>- These gaps compound over time - every project makes it worse</a:t>
            </a:r>
          </a:p>
          <a:p>
            <a:r>
              <a:t>- The next architect has to re-investigate because documentation is stale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overview:</a:t>
            </a:r>
          </a:p>
          <a:p>
            <a:r>
              <a:t>- Pillar 1: We're using GitHub Copilot Pro+ with Claude Opus 4.6 - fixed subscription, no variable costs</a:t>
            </a:r>
          </a:p>
          <a:p>
            <a:r>
              <a:t>- Pillar 2: Our Git repo becomes the AI's context - it reads our actual specs, not synthetic examples</a:t>
            </a:r>
          </a:p>
          <a:p>
            <a:r>
              <a:t>- Pillar 3: We extend what we already do (Git-first) to include solution designs and ADRs in Markdown</a:t>
            </a:r>
          </a:p>
          <a:p>
            <a:r>
              <a:t>- Pillar 4: Automated publishing - a git push replaces the manual Confluence step that gets skipped</a:t>
            </a:r>
          </a:p>
          <a:p>
            <a:r>
              <a:t>- All four pillars work together - each builds on our existing Git foundation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CRITICAL TALKING POINT - Vector Database Advantage:</a:t>
            </a:r>
          </a:p>
          <a:p>
            <a:r>
              <a:t>- This is THE most important slide - explains why 208x difference exists</a:t>
            </a:r>
          </a:p>
          <a:p>
            <a:r>
              <a:t>- GitHub Copilot: Pre-indexes our workspace into a vector database (semantic search index)</a:t>
            </a:r>
          </a:p>
          <a:p>
            <a:r>
              <a:t>- Indexing happens once, used unlimited times - amortized across fixed subscription</a:t>
            </a:r>
          </a:p>
          <a:p>
            <a:r>
              <a:t>- OpenRouter: No indexing. Recalculates entire context from scratch every request, pays per token</a:t>
            </a:r>
          </a:p>
          <a:p>
            <a:r>
              <a:t>- Intent-based billing: In Copilot, only human-typed prompts count. All autonomous tool calls are free.</a:t>
            </a:r>
          </a:p>
          <a:p>
            <a:r>
              <a:t>- As our workspace grows (more ADRs, more designs), Copilot cost stays $39/month flat</a:t>
            </a:r>
          </a:p>
          <a:p>
            <a:r>
              <a:t>- OpenRouter cost scales linearly with workspace size - bigger context = higher per-run cost</a:t>
            </a:r>
          </a:p>
          <a:p>
            <a:r>
              <a:t>- This is a structural architectural advantage, not a temporary pricing difference</a:t>
            </a:r>
          </a:p>
          <a:p>
            <a:r>
              <a:t>- Vector database is how Copilot achieves both low cost AND high accuracy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Portal demonstration talking points:</a:t>
            </a:r>
          </a:p>
          <a:p>
            <a:r>
              <a:t>- This is a LIVE site, deployed to Azure Static Web Apps</a:t>
            </a:r>
          </a:p>
          <a:p>
            <a:r>
              <a:t>- Everything you'll see was generated by AI from our specs</a:t>
            </a:r>
          </a:p>
          <a:p>
            <a:r>
              <a:t>- Uses NovaTrek Adventures as synthetic domain (no real corporate data)</a:t>
            </a:r>
          </a:p>
          <a:p>
            <a:r>
              <a:t>- Click through to show: microservice page with clickable diagrams, Swagger UI, global ADR log</a:t>
            </a:r>
          </a:p>
          <a:p>
            <a:r>
              <a:t>- Emphasize: this publishes automatically on git push - no manual Confluence step</a:t>
            </a:r>
          </a:p>
          <a:p>
            <a:r>
              <a:t>- Point out: deep linking works - diagrams link to specific endpoints on other service pages</a:t>
            </a:r>
          </a:p>
          <a:p>
            <a:r>
              <a:t>- 301 total artifacts auto-published from a single git push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Output quality talking points:</a:t>
            </a:r>
          </a:p>
          <a:p>
            <a:r>
              <a:t>- 39 files across 5 scenarios - investigation, design, implementation guidance, decisions</a:t>
            </a:r>
          </a:p>
          <a:p>
            <a:r>
              <a:t>- Every artifact follows our documented standards (MADR for ADRs, arc42 for solution designs)</a:t>
            </a:r>
          </a:p>
          <a:p>
            <a:r>
              <a:t>- No fabricated data - AI only used evidence from logs, specs, and source code</a:t>
            </a:r>
          </a:p>
          <a:p>
            <a:r>
              <a:t>- Compared to per-token alternative: Copilot produced 39 files vs 37, and had zero fabrication vs 4 hallucinated fields</a:t>
            </a:r>
          </a:p>
          <a:p>
            <a:r>
              <a:t>- These aren't toy examples - complex multi-service scenarios like RFID wristband integration and schedule overwrite bugs</a:t>
            </a:r>
          </a:p>
          <a:p>
            <a:r>
              <a:t>- Full architectural depth - diagrams, trade-off analysis, consequences documented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PROMOTE step innovation:</a:t>
            </a:r>
          </a:p>
          <a:p>
            <a:r>
              <a:t>- This is the architectural innovation that makes it "continuous"</a:t>
            </a:r>
          </a:p>
          <a:p>
            <a:r>
              <a:t>- Current reality: architects create designs, developers implement, nobody verifies alignment</a:t>
            </a:r>
          </a:p>
          <a:p>
            <a:r>
              <a:t>- After every project: ADRs stay in ticket branches, specs describe intent not reality, knowledge is lost</a:t>
            </a:r>
          </a:p>
          <a:p>
            <a:r>
              <a:t>- PROMOTE step: AI reconciles design vs implementation, updates specs to match reality, promotes ADRs to global log</a:t>
            </a:r>
          </a:p>
          <a:p>
            <a:r>
              <a:t>- This step has never existed in our workflow before - no time, no process, no tooling</a:t>
            </a:r>
          </a:p>
          <a:p>
            <a:r>
              <a:t>- Now automated: AI does the reconciliation work, creates audit trail</a:t>
            </a:r>
          </a:p>
          <a:p>
            <a:r>
              <a:t>- Result: specs describe actual production behavior, not just original design intent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and approval request:</a:t>
            </a:r>
          </a:p>
          <a:p>
            <a:r>
              <a:t>- We need four approvals to adopt this platform</a:t>
            </a:r>
          </a:p>
          <a:p>
            <a:r>
              <a:t>- Approval 1: Copilot licenses - start with architecture team as pilot, measure quality, expand if successful</a:t>
            </a:r>
          </a:p>
          <a:p>
            <a:r>
              <a:t>- Approval 2: Markdown authoring - this extends what we already do (Git-first), just adds solution designs to the repo</a:t>
            </a:r>
          </a:p>
          <a:p>
            <a:r>
              <a:t>- Approval 3: Automated publishing - replaces the manual Confluence step that gets skipped anyway</a:t>
            </a:r>
          </a:p>
          <a:p>
            <a:r>
              <a:t>- Approval 4: Optional - Confluence sync if we need to maintain Confluence as canonical platform</a:t>
            </a:r>
          </a:p>
          <a:p>
            <a:r>
              <a:t>- Total cost: $39/month per architect (fixed) - no infrastructure costs, no variable expenses</a:t>
            </a:r>
          </a:p>
          <a:p>
            <a:r>
              <a:t>- Everything shown today is already built and deployed - this isn't vaporware</a:t>
            </a:r>
          </a:p>
          <a:p>
            <a:r>
              <a:t>- Questions to address: pilot scope, timeline, success metrics, reporting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ango-sand-083b8ce0f.4.azurestaticapps.net" TargetMode="Externa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Continuous Architecture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8F00"/>
                </a:solidFill>
              </a:defRPr>
            </a:pPr>
            <a:r>
              <a:t>Building on Our Git-First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March 2026 • Architecture Practice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7474F"/>
                </a:solidFill>
              </a:defRPr>
            </a:pPr>
            <a:r>
              <a:t>The Problem: The Last Mile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897B"/>
                </a:solidFill>
              </a:defRPr>
            </a:pPr>
            <a:r>
              <a:t>We Already Did the Hard Part:</a:t>
            </a:r>
          </a:p>
          <a:p>
            <a:pPr>
              <a:spcBef>
                <a:spcPts val="600"/>
              </a:spcBef>
              <a:defRPr sz="1800"/>
            </a:pPr>
            <a:r>
              <a:t>✓ OpenAPI specs are source-controlled in Git</a:t>
            </a:r>
          </a:p>
          <a:p>
            <a:pPr>
              <a:spcBef>
                <a:spcPts val="600"/>
              </a:spcBef>
              <a:defRPr sz="1800"/>
            </a:pPr>
            <a:r>
              <a:t>✓ PlantUML diagrams version-controlled alongside specs</a:t>
            </a:r>
          </a:p>
          <a:p>
            <a:pPr>
              <a:spcBef>
                <a:spcPts val="600"/>
              </a:spcBef>
              <a:defRPr sz="1800"/>
            </a:pPr>
            <a:r>
              <a:t>✓ No Swagger goes to production without Git approval</a:t>
            </a:r>
          </a:p>
          <a:p>
            <a:pPr>
              <a:spcBef>
                <a:spcPts val="600"/>
              </a:spcBef>
              <a:defRPr sz="1800"/>
            </a:pPr>
            <a:r>
              <a:t>✓ Production gating works - this is our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8F00"/>
                </a:solidFill>
              </a:defRPr>
            </a:pPr>
            <a:r>
              <a:t>But Two Critical Gaps Erode This Foundation:</a:t>
            </a:r>
          </a:p>
          <a:p>
            <a:pPr>
              <a:spcBef>
                <a:spcPts val="1200"/>
              </a:spcBef>
              <a:defRPr sz="2000" b="1">
                <a:solidFill>
                  <a:srgbClr val="37474F"/>
                </a:solidFill>
              </a:defRPr>
            </a:pPr>
            <a:r>
              <a:t>Gap 1: Confluence Is Manual and Voluntary</a:t>
            </a:r>
          </a:p>
          <a:p>
            <a:pPr lvl="1">
              <a:defRPr sz="1600"/>
            </a:pPr>
            <a:r>
              <a:t>Specs are in Git. Confluence pages fall behind because updating them is optional.</a:t>
            </a:r>
          </a:p>
          <a:p>
            <a:pPr>
              <a:spcBef>
                <a:spcPts val="1200"/>
              </a:spcBef>
              <a:defRPr sz="2000" b="1">
                <a:solidFill>
                  <a:srgbClr val="37474F"/>
                </a:solidFill>
              </a:defRPr>
            </a:pPr>
            <a:r>
              <a:t>Gap 2: Design vs Reality - No Reconciliation</a:t>
            </a:r>
          </a:p>
          <a:p>
            <a:pPr lvl="1">
              <a:defRPr sz="1600"/>
            </a:pPr>
            <a:r>
              <a:t>Developers deviate during implementation. Nobody verifies what was actually built matches what was designed.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7474F"/>
                </a:solidFill>
              </a:defRPr>
            </a:pPr>
            <a:r>
              <a:t>The Solution: Four Pillars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84048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897B"/>
                </a:solidFill>
              </a:defRPr>
            </a:pPr>
            <a:r>
              <a:t>1. AI-Assisted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/>
            </a:pPr>
            <a:r>
              <a:t>$39/month per seat</a:t>
            </a:r>
          </a:p>
          <a:p>
            <a:r>
              <a:t>GitHub Copilot reads our Git repo</a:t>
            </a:r>
          </a:p>
          <a:p>
            <a:r>
              <a:t>Produces MADR ADRs, arc42 designs</a:t>
            </a:r>
          </a:p>
          <a:p>
            <a:r>
              <a:t>208x cheaper than alternatives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097280"/>
            <a:ext cx="384048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1887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897B"/>
                </a:solidFill>
              </a:defRPr>
            </a:pPr>
            <a:r>
              <a:t>2. Enhanced 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7373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/>
            </a:pPr>
            <a:r>
              <a:t>Our Git repo + AI context</a:t>
            </a:r>
          </a:p>
          <a:p>
            <a:r>
              <a:t>500+ lines of domain knowledge</a:t>
            </a:r>
          </a:p>
          <a:p>
            <a:r>
              <a:t>Previous designs inform new ones</a:t>
            </a:r>
          </a:p>
          <a:p>
            <a:r>
              <a:t>Workspace grows richer over 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40480"/>
            <a:ext cx="384048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897B"/>
                </a:solidFill>
              </a:defRPr>
            </a:pPr>
            <a:r>
              <a:t>3. Markdown Solution Designs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/>
            </a:pPr>
            <a:r>
              <a:t>Extends our Git-first practice</a:t>
            </a:r>
          </a:p>
          <a:p>
            <a:r>
              <a:t>ADRs, impacts, guidance in Markdown</a:t>
            </a:r>
          </a:p>
          <a:p>
            <a:r>
              <a:t>Pull request reviews on decisions</a:t>
            </a:r>
          </a:p>
          <a:p>
            <a:r>
              <a:t>AI-readable for future sessions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3840480"/>
            <a:ext cx="384048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9319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897B"/>
                </a:solidFill>
              </a:defRPr>
            </a:pPr>
            <a:r>
              <a:t>4. Automated Publishing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4805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/>
            </a:pPr>
            <a:r>
              <a:t>Replaces manual Confluence step</a:t>
            </a:r>
          </a:p>
          <a:p>
            <a:r>
              <a:t>Git push → portal updated</a:t>
            </a:r>
          </a:p>
          <a:p>
            <a:r>
              <a:t>301 artifacts auto-generated</a:t>
            </a:r>
          </a:p>
          <a:p>
            <a:r>
              <a:t>No voluntary updates to skip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37474F"/>
                </a:solidFill>
              </a:defRPr>
            </a:pPr>
            <a:r>
              <a:t>Cost Evidence: The Vector Database Advantage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011680"/>
          </a:xfrm>
          <a:prstGeom prst="rect">
            <a:avLst/>
          </a:prstGeom>
          <a:solidFill>
            <a:srgbClr val="FF8F00"/>
          </a:solidFill>
          <a:ln w="3810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ARCHITECTURAL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>
                <a:solidFill>
                  <a:srgbClr val="FFFFFF"/>
                </a:solidFill>
              </a:defRPr>
            </a:pPr>
            <a:r>
              <a:t>GitHub Copilot pre-indexes our entire workspace into a VECTOR DATABASE. All our specs, diagrams, previous designs, domain knowledge - indexed once, used unlimited times. This is amortized across our fixed $39/month subscription.</a:t>
            </a:r>
          </a:p>
          <a:p/>
          <a:p>
            <a:r>
              <a:t>OpenRouter recalculates everything from scratch on every request. Pays per token, every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3931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897B"/>
                </a:solidFill>
              </a:defRPr>
            </a:pPr>
            <a:r>
              <a:t>GitHub Copilot Pro+</a:t>
            </a:r>
          </a:p>
          <a:p>
            <a:pPr>
              <a:spcBef>
                <a:spcPts val="800"/>
              </a:spcBef>
              <a:defRPr sz="1800" b="1"/>
            </a:pPr>
            <a:r>
              <a:t>$39/month fixed subscription</a:t>
            </a:r>
          </a:p>
          <a:p>
            <a:pPr>
              <a:spcBef>
                <a:spcPts val="400"/>
              </a:spcBef>
              <a:defRPr sz="1300"/>
            </a:pPr>
            <a:r>
              <a:t>✓ Vector database indexes workspace once</a:t>
            </a:r>
          </a:p>
          <a:p>
            <a:pPr>
              <a:spcBef>
                <a:spcPts val="400"/>
              </a:spcBef>
              <a:defRPr sz="1300"/>
            </a:pPr>
            <a:r>
              <a:t>✓ Richer context costs nothing extra</a:t>
            </a:r>
          </a:p>
          <a:p>
            <a:pPr>
              <a:spcBef>
                <a:spcPts val="400"/>
              </a:spcBef>
              <a:defRPr sz="1300"/>
            </a:pPr>
            <a:r>
              <a:t>✓ Intent-based billing: only human prompts count</a:t>
            </a:r>
          </a:p>
          <a:p>
            <a:pPr>
              <a:spcBef>
                <a:spcPts val="400"/>
              </a:spcBef>
              <a:defRPr sz="1300"/>
            </a:pPr>
            <a:r>
              <a:t>✓ Autonomous tool calls are FREE</a:t>
            </a:r>
          </a:p>
          <a:p>
            <a:pPr>
              <a:spcBef>
                <a:spcPts val="400"/>
              </a:spcBef>
              <a:defRPr sz="1300"/>
            </a:pPr>
            <a:r>
              <a:t>✓ As workspace grows, cost stays flat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383280"/>
            <a:ext cx="3931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969696"/>
                </a:solidFill>
              </a:defRPr>
            </a:pPr>
            <a:r>
              <a:t>OpenRouter (Per-Token)</a:t>
            </a:r>
          </a:p>
          <a:p>
            <a:pPr>
              <a:spcBef>
                <a:spcPts val="800"/>
              </a:spcBef>
              <a:defRPr sz="1800" b="1"/>
            </a:pPr>
            <a:r>
              <a:t>$155.73 per run (variable)</a:t>
            </a:r>
          </a:p>
          <a:p>
            <a:pPr>
              <a:spcBef>
                <a:spcPts val="400"/>
              </a:spcBef>
              <a:defRPr sz="1300"/>
            </a:pPr>
            <a:r>
              <a:t>✗ Recalculates context every request</a:t>
            </a:r>
          </a:p>
          <a:p>
            <a:pPr>
              <a:spcBef>
                <a:spcPts val="400"/>
              </a:spcBef>
              <a:defRPr sz="1300"/>
            </a:pPr>
            <a:r>
              <a:t>✗ Pays for every token, every time</a:t>
            </a:r>
          </a:p>
          <a:p>
            <a:pPr>
              <a:spcBef>
                <a:spcPts val="400"/>
              </a:spcBef>
              <a:defRPr sz="1300"/>
            </a:pPr>
            <a:r>
              <a:t>✗ No indexing - starts from scratch</a:t>
            </a:r>
          </a:p>
          <a:p>
            <a:pPr>
              <a:spcBef>
                <a:spcPts val="400"/>
              </a:spcBef>
              <a:defRPr sz="1300"/>
            </a:pPr>
            <a:r>
              <a:t>✗ Context size = direct cost</a:t>
            </a:r>
          </a:p>
          <a:p>
            <a:pPr>
              <a:spcBef>
                <a:spcPts val="400"/>
              </a:spcBef>
              <a:defRPr sz="1300"/>
            </a:pPr>
            <a:r>
              <a:t>✗ As workspace grows, cost scales linearly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8F00"/>
                </a:solidFill>
              </a:defRPr>
            </a:pPr>
            <a:r>
              <a:t>Result: 208x cost advantage per run, and the gap widens as our workspace grows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7474F"/>
                </a:solidFill>
              </a:defRPr>
            </a:pPr>
            <a:r>
              <a:t>What We Built: Live Portal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solidFill>
            <a:srgbClr val="00897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645920"/>
            <a:ext cx="6035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Live Demo:</a:t>
            </a:r>
          </a:p>
          <a:p>
            <a:pPr algn="ctr"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rPr>
                <a:hlinkClick r:id="rId2"/>
              </a:rPr>
              <a:t>https://mango-sand-083b8ce0f.4.azurestaticapps.net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7474F"/>
                </a:solidFill>
              </a:defRPr>
            </a:pPr>
            <a:r>
              <a:t>What to Explore:</a:t>
            </a:r>
          </a:p>
          <a:p>
            <a:pPr>
              <a:spcBef>
                <a:spcPts val="800"/>
              </a:spcBef>
              <a:defRPr sz="1600"/>
            </a:pPr>
            <a:r>
              <a:t>• 19 microservice deep-dive pages - auto-generated from our OpenAPI specs</a:t>
            </a:r>
          </a:p>
          <a:p>
            <a:pPr>
              <a:spcBef>
                <a:spcPts val="800"/>
              </a:spcBef>
              <a:defRPr sz="1600"/>
            </a:pPr>
            <a:r>
              <a:t>• 139 clickable SVG sequence diagrams - every endpoint documented</a:t>
            </a:r>
          </a:p>
          <a:p>
            <a:pPr>
              <a:spcBef>
                <a:spcPts val="800"/>
              </a:spcBef>
              <a:defRPr sz="1600"/>
            </a:pPr>
            <a:r>
              <a:t>• Interactive Swagger UI - try-it-out capable API documentation</a:t>
            </a:r>
          </a:p>
          <a:p>
            <a:pPr>
              <a:spcBef>
                <a:spcPts val="800"/>
              </a:spcBef>
              <a:defRPr sz="1600"/>
            </a:pPr>
            <a:r>
              <a:t>• Enterprise C4 diagram - all services with PCI compliance zone highlighted</a:t>
            </a:r>
          </a:p>
          <a:p>
            <a:pPr>
              <a:spcBef>
                <a:spcPts val="800"/>
              </a:spcBef>
              <a:defRPr sz="1600"/>
            </a:pPr>
            <a:r>
              <a:t>• Global architecture decision log - 11 ADRs with cross-references</a:t>
            </a:r>
          </a:p>
          <a:p>
            <a:pPr>
              <a:spcBef>
                <a:spcPts val="800"/>
              </a:spcBef>
              <a:defRPr sz="1600"/>
            </a:pPr>
            <a:r>
              <a:t>• Full-text search - instant results across all documentation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7474F"/>
                </a:solidFill>
              </a:defRPr>
            </a:pPr>
            <a:r>
              <a:t>What the AI Produced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00897B"/>
                </a:solidFill>
              </a:defRPr>
            </a:pPr>
            <a:r>
              <a:t>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complete architecture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7474F"/>
                </a:solidFill>
              </a:defRPr>
            </a:pPr>
            <a:r>
              <a:t>From 5 Complex Scenarios:</a:t>
            </a:r>
          </a:p>
          <a:p>
            <a:pPr>
              <a:spcBef>
                <a:spcPts val="800"/>
              </a:spcBef>
              <a:defRPr sz="1400"/>
            </a:pPr>
            <a:r>
              <a:t>✓ Solution designs following arc42 structure</a:t>
            </a:r>
          </a:p>
          <a:p>
            <a:pPr>
              <a:spcBef>
                <a:spcPts val="800"/>
              </a:spcBef>
              <a:defRPr sz="1400"/>
            </a:pPr>
            <a:r>
              <a:t>✓ Impact assessments for all affected services</a:t>
            </a:r>
          </a:p>
          <a:p>
            <a:pPr>
              <a:spcBef>
                <a:spcPts val="800"/>
              </a:spcBef>
              <a:defRPr sz="1400"/>
            </a:pPr>
            <a:r>
              <a:t>✓ MADR-formatted Architecture Decision Records</a:t>
            </a:r>
          </a:p>
          <a:p>
            <a:pPr>
              <a:spcBef>
                <a:spcPts val="800"/>
              </a:spcBef>
              <a:defRPr sz="1400"/>
            </a:pPr>
            <a:r>
              <a:t>✓ Implementation guidance with code patterns</a:t>
            </a:r>
          </a:p>
          <a:p>
            <a:pPr>
              <a:spcBef>
                <a:spcPts val="800"/>
              </a:spcBef>
              <a:defRPr sz="1400"/>
            </a:pPr>
            <a:r>
              <a:t>✓ User stories with acceptance criteria</a:t>
            </a:r>
          </a:p>
          <a:p>
            <a:pPr>
              <a:spcBef>
                <a:spcPts val="800"/>
              </a:spcBef>
              <a:defRPr sz="1400"/>
            </a:pPr>
            <a:r>
              <a:t>✓ PlantUML C4 diagrams with proper notation</a:t>
            </a:r>
          </a:p>
          <a:p>
            <a:pPr>
              <a:spcBef>
                <a:spcPts val="800"/>
              </a:spcBef>
              <a:defRPr sz="1400"/>
            </a:pPr>
            <a:r>
              <a:t>✓ OpenAPI spec updates from approved designs</a:t>
            </a:r>
          </a:p>
          <a:p>
            <a:pPr>
              <a:spcBef>
                <a:spcPts val="800"/>
              </a:spcBef>
              <a:defRPr sz="1400"/>
            </a:pPr>
            <a:r>
              <a:t>✓ Investigation reports grounded in logs and source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8F00"/>
                </a:solidFill>
              </a:defRPr>
            </a:pPr>
            <a:r>
              <a:t>Accuracy Assessment:</a:t>
            </a:r>
          </a:p>
          <a:p>
            <a:pPr>
              <a:spcBef>
                <a:spcPts val="800"/>
              </a:spcBef>
              <a:defRPr sz="1400"/>
            </a:pPr>
            <a:r>
              <a:t>Zero fabricated data - all analysis grounded in workspace evidence</a:t>
            </a:r>
          </a:p>
          <a:p>
            <a:pPr>
              <a:spcBef>
                <a:spcPts val="600"/>
              </a:spcBef>
              <a:defRPr sz="1400"/>
            </a:pPr>
            <a:r>
              <a:t>MADR, arc42, and C4 model standards followed correctly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7474F"/>
                </a:solidFill>
              </a:defRPr>
            </a:pPr>
            <a:r>
              <a:t>The Innovation: PROMOTE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8F00"/>
                </a:solidFill>
              </a:defRPr>
            </a:pPr>
            <a:r>
              <a:t>The Problem We've Never Solved:</a:t>
            </a:r>
          </a:p>
          <a:p>
            <a:pPr>
              <a:spcBef>
                <a:spcPts val="800"/>
              </a:spcBef>
              <a:defRPr sz="1600"/>
            </a:pPr>
            <a:r>
              <a:t>After deployment, we never reconcile what was built vs what was designed. Specs describe intent. Production code may differ. Nobody closes this gap.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897B"/>
                </a:solidFill>
              </a:defRPr>
            </a:pPr>
            <a:r>
              <a:t>INTAKE → INVESTIGATE → DESIGN → BUILD → DEPLOY → PROMOTE →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7474F"/>
                </a:solidFill>
              </a:defRPr>
            </a:pPr>
            <a:r>
              <a:t>What PROMOTE Does:</a:t>
            </a:r>
          </a:p>
          <a:p>
            <a:pPr>
              <a:spcBef>
                <a:spcPts val="800"/>
              </a:spcBef>
              <a:defRPr sz="1600"/>
            </a:pPr>
            <a:r>
              <a:t>• Reconcile specs against reality - verify what was actually built</a:t>
            </a:r>
          </a:p>
          <a:p>
            <a:pPr>
              <a:spcBef>
                <a:spcPts val="800"/>
              </a:spcBef>
              <a:defRPr sz="1600"/>
            </a:pPr>
            <a:r>
              <a:t>• Update OpenAPI specs to reflect production behavior, not just design intent</a:t>
            </a:r>
          </a:p>
          <a:p>
            <a:pPr>
              <a:spcBef>
                <a:spcPts val="800"/>
              </a:spcBef>
              <a:defRPr sz="1600"/>
            </a:pPr>
            <a:r>
              <a:t>• Promote ticket-level ADRs to the global searchable decision log</a:t>
            </a:r>
          </a:p>
          <a:p>
            <a:pPr>
              <a:spcBef>
                <a:spcPts val="800"/>
              </a:spcBef>
              <a:defRPr sz="1600"/>
            </a:pPr>
            <a:r>
              <a:t>• Update service baseline pages with current state</a:t>
            </a:r>
          </a:p>
          <a:p>
            <a:pPr>
              <a:spcBef>
                <a:spcPts val="800"/>
              </a:spcBef>
              <a:defRPr sz="1600"/>
            </a:pPr>
            <a:r>
              <a:t>• Create audit trail of design → reality reconciliation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7474F"/>
                </a:solidFill>
              </a:defRPr>
            </a:pPr>
            <a:r>
              <a:t>The Ask: What We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840480" cy="21031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897B"/>
                </a:solidFill>
              </a:defRPr>
            </a:pPr>
            <a:r>
              <a:t>1. GitHub Copilot Licenses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19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/>
            </a:pPr>
            <a:r>
              <a:t>$39/month per seat</a:t>
            </a:r>
          </a:p>
          <a:p>
            <a:r>
              <a:t>Fixed subscription</a:t>
            </a:r>
          </a:p>
          <a:p>
            <a:r>
              <a:t>No variable costs</a:t>
            </a:r>
          </a:p>
          <a:p>
            <a:r>
              <a:t>Start with architecture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097280"/>
            <a:ext cx="3840480" cy="21031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1887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897B"/>
                </a:solidFill>
              </a:defRPr>
            </a:pPr>
            <a:r>
              <a:t>2. Markdown in Git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645919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/>
            </a:pPr>
            <a:r>
              <a:t>Extend our Git-first practice</a:t>
            </a:r>
          </a:p>
          <a:p>
            <a:r>
              <a:t>Solution designs in Markdown</a:t>
            </a:r>
          </a:p>
          <a:p>
            <a:r>
              <a:t>Pull request reviews on ADRs</a:t>
            </a:r>
          </a:p>
          <a:p>
            <a:r>
              <a:t>AI reads designs in future sessions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840480" cy="21031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897B"/>
                </a:solidFill>
              </a:defRPr>
            </a:pPr>
            <a:r>
              <a:t>3. Automated Publishing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/>
            </a:pPr>
            <a:r>
              <a:t>Azure Static Web Apps (free tier)</a:t>
            </a:r>
          </a:p>
          <a:p>
            <a:r>
              <a:t>Git push → portal updated</a:t>
            </a:r>
          </a:p>
          <a:p>
            <a:r>
              <a:t>Replaces manual Confluence step</a:t>
            </a:r>
          </a:p>
          <a:p>
            <a:r>
              <a:t>No voluntary updates to skip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3657600"/>
            <a:ext cx="3840480" cy="21031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749039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897B"/>
                </a:solidFill>
              </a:defRPr>
            </a:pPr>
            <a:r>
              <a:t>4. Optional: Confluence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2062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/>
            </a:pPr>
            <a:r>
              <a:t>Sync Markdown to Confluence</a:t>
            </a:r>
          </a:p>
          <a:p>
            <a:r>
              <a:t>Git remains source of truth</a:t>
            </a:r>
          </a:p>
          <a:p>
            <a:r>
              <a:t>Confluence becomes read-only mirror</a:t>
            </a:r>
          </a:p>
          <a:p>
            <a:r>
              <a:t>No dual maintenance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8F00"/>
                </a:solidFill>
              </a:defRPr>
            </a:pPr>
            <a:r>
              <a:t>Total Monthly Cost: $39/seat (Copilot) + $0 (Azure free tier) + $0 (MkDocs)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