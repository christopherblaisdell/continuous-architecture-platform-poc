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talking points:</a:t>
            </a:r>
          </a:p>
          <a:p>
            <a:r>
              <a:t>- Full 12-page presentation covering all aspects of the platform</a:t>
            </a:r>
          </a:p>
          <a:p>
            <a:r>
              <a:t>- This builds directly on our existing strengths - Git-controlled specs and production gating</a:t>
            </a:r>
          </a:p>
          <a:p>
            <a:r>
              <a:t>- Everything I'll show you is already deployed and working</a:t>
            </a:r>
          </a:p>
          <a:p>
            <a:r>
              <a:t>- Key innovation: Vector database indexing makes this 208x cheaper than alternatives</a:t>
            </a:r>
          </a:p>
          <a:p>
            <a:r>
              <a:t>- Total time to present: 30-40 minutes with live demo</a:t>
            </a:r>
          </a:p>
          <a:p>
            <a:r>
              <a:t>- Live portal demo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- Emphasize that our Git-based foundation is already strong - most companies don't have this</a:t>
            </a:r>
          </a:p>
          <a:p>
            <a:r>
              <a:t>- Gap 1: Confluence updates are voluntary, so they get skipped. The browsable docs stakeholders use fall behind.</a:t>
            </a:r>
          </a:p>
          <a:p>
            <a:r>
              <a:t>- Gap 2: After deployment, we never verify the code matches the design. Specs describe intent, not reality.</a:t>
            </a:r>
          </a:p>
          <a:p>
            <a:r>
              <a:t>- These gaps compound over time - every project makes it worse</a:t>
            </a:r>
          </a:p>
          <a:p>
            <a:r>
              <a:t>- The next architect has to re-investigate because documentation is stale</a:t>
            </a:r>
          </a:p>
          <a:p>
            <a:r>
              <a:t>- This presentation shows how we close both gaps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overview:</a:t>
            </a:r>
          </a:p>
          <a:p>
            <a:r>
              <a:t>- All four pillars work together - each builds on our existing Git foundation</a:t>
            </a:r>
          </a:p>
          <a:p>
            <a:r>
              <a:t>- Pillar 1 (Enhanced Workspace): Our Git repo becomes the AI's context - it reads our actual specs</a:t>
            </a:r>
          </a:p>
          <a:p>
            <a:r>
              <a:t>- Pillar 2 (Markdown): We extend what we already do (Git-first) to include solution designs and ADRs</a:t>
            </a:r>
          </a:p>
          <a:p>
            <a:r>
              <a:t>- Pillar 3 (Publishing): Automated publishing - a git push replaces the manual Confluence step</a:t>
            </a:r>
          </a:p>
          <a:p>
            <a:r>
              <a:t>- Pillar 4 (AI Workflows): GitHub Copilot Pro+ with Claude Opus 4.6 - fixed subscription</a:t>
            </a:r>
          </a:p>
          <a:p>
            <a:r>
              <a:t>- Next slides will dive deep into each pillar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Enhanced Workspace deep-dive:</a:t>
            </a:r>
          </a:p>
          <a:p>
            <a:r>
              <a:t>- This is the foundation - our Git repo becomes the AI's context</a:t>
            </a:r>
          </a:p>
          <a:p>
            <a:r>
              <a:t>- AI reads the ACTUAL specs we already maintain, not synthetic examples</a:t>
            </a:r>
          </a:p>
          <a:p>
            <a:r>
              <a:t>- copilot-instructions.md is the secret weapon - 500+ lines of domain knowledge auto-loaded</a:t>
            </a:r>
          </a:p>
          <a:p>
            <a:r>
              <a:t>- Includes: role definition, domain model, bounded context rules, anti-patterns, standards</a:t>
            </a:r>
          </a:p>
          <a:p>
            <a:r>
              <a:t>- The workspace gets richer with every project - and Copilot's fixed pricing means more context costs nothing</a:t>
            </a:r>
          </a:p>
          <a:p>
            <a:r>
              <a:t>- This is why accuracy is high - AI has full context, doesn't need to guess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Markdown-first authoring:</a:t>
            </a:r>
          </a:p>
          <a:p>
            <a:r>
              <a:t>- This extends what we already do - we're already Git-first for specs and diagrams</a:t>
            </a:r>
          </a:p>
          <a:p>
            <a:r>
              <a:t>- Now adding: solution designs, ADRs, impact assessments, implementation guidance</a:t>
            </a:r>
          </a:p>
          <a:p>
            <a:r>
              <a:t>- Everything in Markdown, everything version-controlled</a:t>
            </a:r>
          </a:p>
          <a:p>
            <a:r>
              <a:t>- Pull request workflow: architects review designs with line-by-line diffs, just like code</a:t>
            </a:r>
          </a:p>
          <a:p>
            <a:r>
              <a:t>- AI benefit: Markdown is AI-readable. Past designs become context for future sessions.</a:t>
            </a:r>
          </a:p>
          <a:p>
            <a:r>
              <a:t>- No more buried ADRs in ticket branches - they get promoted to a global searchable log</a:t>
            </a:r>
          </a:p>
          <a:p>
            <a:r>
              <a:t>- Single source of truth: one Markdown file publishes to portal, Confluence, and 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TALKING POINT - Vector Database Advantage:</a:t>
            </a:r>
          </a:p>
          <a:p>
            <a:r>
              <a:t>- This is THE most important slide - explains why 208x difference exists</a:t>
            </a:r>
          </a:p>
          <a:p>
            <a:r>
              <a:t>- GitHub Copilot: Pre-indexes our workspace into a vector database (semantic search index)</a:t>
            </a:r>
          </a:p>
          <a:p>
            <a:r>
              <a:t>- Indexing happens once, used unlimited times - amortized across fixed subscription</a:t>
            </a:r>
          </a:p>
          <a:p>
            <a:r>
              <a:t>- OpenRouter: No indexing. Recalculates entire context from scratch every request, pays per token</a:t>
            </a:r>
          </a:p>
          <a:p>
            <a:r>
              <a:t>- Intent-based billing: In Copilot, only human-typed prompts count. All autonomous tool calls are free.</a:t>
            </a:r>
          </a:p>
          <a:p>
            <a:r>
              <a:t>- As our workspace grows (more ADRs, more designs), Copilot cost stays $39/month flat</a:t>
            </a:r>
          </a:p>
          <a:p>
            <a:r>
              <a:t>- OpenRouter cost scales linearly with workspace size - bigger context = higher per-run cost</a:t>
            </a:r>
          </a:p>
          <a:p>
            <a:r>
              <a:t>- This is a structural architectural advantage, not a temporary pricing difference</a:t>
            </a:r>
          </a:p>
          <a:p>
            <a:r>
              <a:t>- Vector database is how Copilot achieves both low cost AND high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Output quality talking points:</a:t>
            </a:r>
          </a:p>
          <a:p>
            <a:r>
              <a:t>- 39 files across 5 scenarios - investigation, design, implementation guidance, decisions</a:t>
            </a:r>
          </a:p>
          <a:p>
            <a:r>
              <a:t>- Every artifact follows our documented standards (MADR for ADRs, arc42 for solution designs)</a:t>
            </a:r>
          </a:p>
          <a:p>
            <a:r>
              <a:t>- No fabricated data - AI only used evidence from logs, specs, and source code</a:t>
            </a:r>
          </a:p>
          <a:p>
            <a:r>
              <a:t>- Compared to per-token alternative: Copilot produced 39 files vs 37, and had zero fabrication vs 4 hallucinated fields</a:t>
            </a:r>
          </a:p>
          <a:p>
            <a:r>
              <a:t>- These aren't toy examples - complex multi-service scenarios like RFID wristband integration and schedule overwrite bugs</a:t>
            </a:r>
          </a:p>
          <a:p>
            <a:r>
              <a:t>- Full architectural depth - diagrams, trade-off analysis, consequences documented</a:t>
            </a:r>
          </a:p>
          <a:p>
            <a:r>
              <a:t>- The vector database indexing gives AI full context, so it doesn't need to hallucinate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Automated publishing pipeline:</a:t>
            </a:r>
          </a:p>
          <a:p>
            <a:r>
              <a:t>- This closes Gap 1 (Confluence falls behind)</a:t>
            </a:r>
          </a:p>
          <a:p>
            <a:r>
              <a:t>- Current problem: updating Confluence is manual and voluntary, so it gets skipped</a:t>
            </a:r>
          </a:p>
          <a:p>
            <a:r>
              <a:t>- Solution: git push triggers automated build and deployment</a:t>
            </a:r>
          </a:p>
          <a:p>
            <a:r>
              <a:t>- Build steps: Python generators read specs, produce pages, PlantUML renders diagrams, MkDocs builds site</a:t>
            </a:r>
          </a:p>
          <a:p>
            <a:r>
              <a:t>- Build time: under 30 seconds from push to live</a:t>
            </a:r>
          </a:p>
          <a:p>
            <a:r>
              <a:t>- 301 total artifacts published automatically - microservice pages, diagrams, Swagger UI, ADR log</a:t>
            </a:r>
          </a:p>
          <a:p>
            <a:r>
              <a:t>- Optional: can sync to Confluence via API if needed - same Markdown source, two renderers</a:t>
            </a:r>
          </a:p>
          <a:p>
            <a:r>
              <a:t>- Cost: $0 (free tier Azure + open source tools)</a:t>
            </a:r>
          </a:p>
          <a:p>
            <a:r>
              <a:t>- Result: browsable documentation always matches Git state, never falls behind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Portal demonstration talking points:</a:t>
            </a:r>
          </a:p>
          <a:p>
            <a:r>
              <a:t>- PAUSE HERE and open the portal in a browser</a:t>
            </a:r>
          </a:p>
          <a:p>
            <a:r>
              <a:t>- This is a LIVE site, deployed to Azure Static Web Apps</a:t>
            </a:r>
          </a:p>
          <a:p>
            <a:r>
              <a:t>- Everything you'll see was generated by AI from our OpenAPI specs</a:t>
            </a:r>
          </a:p>
          <a:p>
            <a:r>
              <a:t>- Walk through: </a:t>
            </a:r>
          </a:p>
          <a:p>
            <a:r>
              <a:t>  1. Home page - service catalog</a:t>
            </a:r>
          </a:p>
          <a:p>
            <a:r>
              <a:t>  2. Click svc-check-in (most connected service)</a:t>
            </a:r>
          </a:p>
          <a:p>
            <a:r>
              <a:t>  3. Show sequence diagram for an endpoint - it's clickable SVG</a:t>
            </a:r>
          </a:p>
          <a:p>
            <a:r>
              <a:t>  4. Click a cross-service integration arrow - deep links to target endpoint</a:t>
            </a:r>
          </a:p>
          <a:p>
            <a:r>
              <a:t>  5. Show Swagger UI - interactive, try-it-out capable</a:t>
            </a:r>
          </a:p>
          <a:p>
            <a:r>
              <a:t>  6. Show global ADR log - 11 decisions with full context</a:t>
            </a:r>
          </a:p>
          <a:p>
            <a:r>
              <a:t>- Emphasize: this publishes automatically on git push - no manual Confluence step</a:t>
            </a:r>
          </a:p>
          <a:p>
            <a:r>
              <a:t>- All 301 artifacts from a single git push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PROMOTE step innovation:</a:t>
            </a:r>
          </a:p>
          <a:p>
            <a:r>
              <a:t>- This closes Gap 2 (design vs reality divergence)</a:t>
            </a:r>
          </a:p>
          <a:p>
            <a:r>
              <a:t>- This is the architectural innovation that makes it "continuous"</a:t>
            </a:r>
          </a:p>
          <a:p>
            <a:r>
              <a:t>- Current reality: architects create designs, developers implement, nobody verifies alignment</a:t>
            </a:r>
          </a:p>
          <a:p>
            <a:r>
              <a:t>- After every project: ADRs stay in ticket branches, specs describe intent not reality, knowledge is lost</a:t>
            </a:r>
          </a:p>
          <a:p>
            <a:r>
              <a:t>- PROMOTE step: AI reconciles design vs implementation, updates specs to match reality, promotes ADRs to global log</a:t>
            </a:r>
          </a:p>
          <a:p>
            <a:r>
              <a:t>- This step has never existed in our workflow before - no time, no process, no tooling</a:t>
            </a:r>
          </a:p>
          <a:p>
            <a:r>
              <a:t>- Now automated: AI does the reconciliation work, creates audit trail</a:t>
            </a:r>
          </a:p>
          <a:p>
            <a:r>
              <a:t>- Result: specs describe actual production behavior, not just original design intent</a:t>
            </a:r>
          </a:p>
          <a:p>
            <a:r>
              <a:t>- The vector database makes this feasible - AI can read specs, source code, and logs to compare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overview:</a:t>
            </a:r>
          </a:p>
          <a:p>
            <a:r>
              <a:t>- Six phases total, each delivers independent value</a:t>
            </a:r>
          </a:p>
          <a:p>
            <a:r>
              <a:t>- Phase 1 (COMPLETE): Compared GitHub Copilot vs Roo Code, established 208x cost advantage</a:t>
            </a:r>
          </a:p>
          <a:p>
            <a:r>
              <a:t>- Phase 6 (COMPLETE): Built the live portal you just saw, automated publishing pipeline</a:t>
            </a:r>
          </a:p>
          <a:p>
            <a:r>
              <a:t>- We accelerated Phase 6 to demonstrate the full platform capability</a:t>
            </a:r>
          </a:p>
          <a:p>
            <a:r>
              <a:t>- Phase 2 (Next): Formalize workflows - make PROMOTE a standard step, create playbooks</a:t>
            </a:r>
          </a:p>
          <a:p>
            <a:r>
              <a:t>- Phase 3: Integrate into CI/CD - automated validation on every commit</a:t>
            </a:r>
          </a:p>
          <a:p>
            <a:r>
              <a:t>- Phase 4: Full traceability - from any ADR, navigate to ticket, design, impacted specs</a:t>
            </a:r>
          </a:p>
          <a:p>
            <a:r>
              <a:t>- Phase 5: Continuous improvement - measure quality, optimize AI instructions</a:t>
            </a:r>
          </a:p>
          <a:p>
            <a:r>
              <a:t>- Timeline: Full platform by August 2026</a:t>
            </a:r>
          </a:p>
          <a:p>
            <a:r>
              <a:t>- Can stop at any phase and still have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and approval request:</a:t>
            </a:r>
          </a:p>
          <a:p>
            <a:r>
              <a:t>- We need four approvals to adopt this platform</a:t>
            </a:r>
          </a:p>
          <a:p>
            <a:r>
              <a:t>- Approval 1: Copilot licenses - THE KEY INVESTMENT. Vector database indexing is the secret sauce.</a:t>
            </a:r>
          </a:p>
          <a:p>
            <a:r>
              <a:t>  * Start with architecture team as pilot</a:t>
            </a:r>
          </a:p>
          <a:p>
            <a:r>
              <a:t>  * Measure quality and adoption for 1 month</a:t>
            </a:r>
          </a:p>
          <a:p>
            <a:r>
              <a:t>  * Expand if successful</a:t>
            </a:r>
          </a:p>
          <a:p>
            <a:r>
              <a:t>- Approval 2: Markdown authoring - extends what we already do (Git-first)</a:t>
            </a:r>
          </a:p>
          <a:p>
            <a:r>
              <a:t>  * Just adds solution designs to the repo alongside specs</a:t>
            </a:r>
          </a:p>
          <a:p>
            <a:r>
              <a:t>- Approval 3: Automated publishing - replaces the manual Confluence step that gets skipped anyway</a:t>
            </a:r>
          </a:p>
          <a:p>
            <a:r>
              <a:t>  * $0 cost (free tier Azure + open source MkDocs)</a:t>
            </a:r>
          </a:p>
          <a:p>
            <a:r>
              <a:t>- Approval 4: Optional - Confluence sync if we need to maintain Confluence as canonical platform</a:t>
            </a:r>
          </a:p>
          <a:p>
            <a:r>
              <a:t>  * Git remains source of truth, Confluence becomes read-only mirror</a:t>
            </a:r>
          </a:p>
          <a:p>
            <a:r>
              <a:t>- Total cost: $39/month per architect (fixed) - no variable costs, no infrastructure expenses</a:t>
            </a:r>
          </a:p>
          <a:p>
            <a:r>
              <a:t>- Everything shown today is already built and deployed - this isn't vaporware</a:t>
            </a:r>
          </a:p>
          <a:p>
            <a:r>
              <a:t>- Questions to address: pilot scope, timeline, success metrics, governance</a:t>
            </a:r>
          </a:p>
          <a:p>
            <a:r>
              <a:t>- Emphasize: The vector database is what makes this work - low cost AND high accuracy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ngo-sand-083b8ce0f.4.azurestaticapps.net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Continuous Architecture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8F00"/>
                </a:solidFill>
              </a:defRPr>
            </a:pPr>
            <a:r>
              <a:t>Building on Our Git-First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March 2026 • Architecture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Problem: The Last Mile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97B"/>
                </a:solidFill>
              </a:defRPr>
            </a:pPr>
            <a:r>
              <a:t>We Already Did the Hard Part:</a:t>
            </a:r>
          </a:p>
          <a:p>
            <a:pPr>
              <a:spcBef>
                <a:spcPts val="600"/>
              </a:spcBef>
              <a:defRPr sz="1800"/>
            </a:pPr>
            <a:r>
              <a:t>✓ OpenAPI specs are source-controlled in Git</a:t>
            </a:r>
          </a:p>
          <a:p>
            <a:pPr>
              <a:spcBef>
                <a:spcPts val="600"/>
              </a:spcBef>
              <a:defRPr sz="1800"/>
            </a:pPr>
            <a:r>
              <a:t>✓ PlantUML diagrams version-controlled alongside specs</a:t>
            </a:r>
          </a:p>
          <a:p>
            <a:pPr>
              <a:spcBef>
                <a:spcPts val="600"/>
              </a:spcBef>
              <a:defRPr sz="1800"/>
            </a:pPr>
            <a:r>
              <a:t>✓ No Swagger goes to production without Git approval</a:t>
            </a:r>
          </a:p>
          <a:p>
            <a:pPr>
              <a:spcBef>
                <a:spcPts val="600"/>
              </a:spcBef>
              <a:defRPr sz="1800"/>
            </a:pPr>
            <a:r>
              <a:t>✓ Production gating works - this is our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8F00"/>
                </a:solidFill>
              </a:defRPr>
            </a:pPr>
            <a:r>
              <a:t>But Two Critical Gaps Erode This Foundation:</a:t>
            </a:r>
          </a:p>
          <a:p>
            <a:pPr>
              <a:spcBef>
                <a:spcPts val="1200"/>
              </a:spcBef>
              <a:defRPr sz="2000" b="1">
                <a:solidFill>
                  <a:srgbClr val="37474F"/>
                </a:solidFill>
              </a:defRPr>
            </a:pPr>
            <a:r>
              <a:t>Gap 1: Confluence Is Manual and Voluntary</a:t>
            </a:r>
          </a:p>
          <a:p>
            <a:pPr lvl="1">
              <a:defRPr sz="1600"/>
            </a:pPr>
            <a:r>
              <a:t>Specs are in Git. Confluence pages fall behind because updating them is optional.</a:t>
            </a:r>
          </a:p>
          <a:p>
            <a:pPr>
              <a:spcBef>
                <a:spcPts val="1200"/>
              </a:spcBef>
              <a:defRPr sz="2000" b="1">
                <a:solidFill>
                  <a:srgbClr val="37474F"/>
                </a:solidFill>
              </a:defRPr>
            </a:pPr>
            <a:r>
              <a:t>Gap 2: Design vs Reality - No Reconciliation</a:t>
            </a:r>
          </a:p>
          <a:p>
            <a:pPr lvl="1">
              <a:defRPr sz="1600"/>
            </a:pPr>
            <a:r>
              <a:t>Developers deviate during implementation. Nobody verifies what was actually built matches what was designed.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The Solution: Four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1. Enhanced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Our Git repo + AI context</a:t>
            </a:r>
          </a:p>
          <a:p>
            <a:r>
              <a:t>500+ lines of domain knowledge</a:t>
            </a:r>
          </a:p>
          <a:p>
            <a:r>
              <a:t>Previous designs inform new ones</a:t>
            </a:r>
          </a:p>
          <a:p>
            <a:r>
              <a:t>Workspace grows richer over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2. Markdown Solution Designs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Extends our Git-first practice</a:t>
            </a:r>
          </a:p>
          <a:p>
            <a:r>
              <a:t>ADRs, impacts, guidance in Markdown</a:t>
            </a:r>
          </a:p>
          <a:p>
            <a:r>
              <a:t>Pull request reviews on decisions</a:t>
            </a:r>
          </a:p>
          <a:p>
            <a:r>
              <a:t>AI-readable for future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3. Automated Publishing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Replaces manual Confluence step</a:t>
            </a:r>
          </a:p>
          <a:p>
            <a:r>
              <a:t>Git push → portal updated</a:t>
            </a:r>
          </a:p>
          <a:p>
            <a:r>
              <a:t>301 artifacts auto-generated</a:t>
            </a:r>
          </a:p>
          <a:p>
            <a:r>
              <a:t>No voluntary updates to skip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840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97B"/>
                </a:solidFill>
              </a:defRPr>
            </a:pPr>
            <a:r>
              <a:t>4. AI-Assisted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400"/>
            </a:pPr>
            <a:r>
              <a:t>$39/month per seat (fixed cost)</a:t>
            </a:r>
          </a:p>
          <a:p>
            <a:r>
              <a:t>GitHub Copilot reads our Git repo</a:t>
            </a:r>
          </a:p>
          <a:p>
            <a:r>
              <a:t>Produces MADR ADRs, arc42 designs</a:t>
            </a:r>
          </a:p>
          <a:p>
            <a:r>
              <a:t>208x cheaper than alternatives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Pillar 1: Enhanced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00897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The AI doesn't hallucinate when it can read the actual source material. Our Git repo becomes the AI's shared context - same specs, diagrams, and source code we already maintain.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7474F"/>
                </a:solidFill>
              </a:defRPr>
            </a:pPr>
            <a:r>
              <a:t>What Lives in Our Architecture Repository: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19 OpenAPI specs: Authoritative API contracts for every microservice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11 Architecture Decision Records: Global decision log with rationale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6 Service architecture pages: Living baselines per service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8 Java source files: Key service implementations for analysis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3 Mock tool scripts: JIRA, Elasticsearch, GitLab simulation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4 Architecture standards: arc42, MADR, C4 model, ISO 25010</a:t>
            </a:r>
          </a:p>
          <a:p>
            <a:pPr>
              <a:spcBef>
                <a:spcPts val="800"/>
              </a:spcBef>
              <a:defRPr sz="1400"/>
            </a:pPr>
            <a:r>
              <a:rPr b="1"/>
              <a:t>copilot-instructions.md: 500+ lines of domain knowledge loaded into every AI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Pillar 2: Markdown Solution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97B"/>
                </a:solidFill>
              </a:defRPr>
            </a:pPr>
            <a:r>
              <a:t>Extending Our Git-First Practice:</a:t>
            </a:r>
          </a:p>
          <a:p>
            <a:pPr>
              <a:spcBef>
                <a:spcPts val="600"/>
              </a:spcBef>
              <a:defRPr sz="1600"/>
            </a:pPr>
            <a:r>
              <a:t>We already author OpenAPI specs in YAML and diagrams in PlantUML - text formats checked into Git. We're extending this to solution designs, ADRs, and impact assessments in Markdown.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474F"/>
                </a:solidFill>
              </a:defRPr>
            </a:pPr>
            <a:r>
              <a:t>What We Have vs What We Add:</a:t>
            </a:r>
          </a:p>
          <a:p>
            <a:pPr>
              <a:spcBef>
                <a:spcPts val="600"/>
              </a:spcBef>
              <a:defRPr sz="1300"/>
            </a:pPr>
            <a:r>
              <a:t>OpenAPI specs: Already in Git (gated) → Same + AI-assisted updates</a:t>
            </a:r>
          </a:p>
          <a:p>
            <a:pPr>
              <a:spcBef>
                <a:spcPts val="600"/>
              </a:spcBef>
              <a:defRPr sz="1300"/>
            </a:pPr>
            <a:r>
              <a:t>PlantUML diagrams: Already in Git → Same + auto-rendered to portal</a:t>
            </a:r>
          </a:p>
          <a:p>
            <a:pPr>
              <a:spcBef>
                <a:spcPts val="600"/>
              </a:spcBef>
              <a:defRPr sz="1300"/>
            </a:pPr>
            <a:r>
              <a:t>Solution designs: Confluence (manual) → Markdown in Git + auto-published</a:t>
            </a:r>
          </a:p>
          <a:p>
            <a:pPr>
              <a:spcBef>
                <a:spcPts val="600"/>
              </a:spcBef>
              <a:defRPr sz="1300"/>
            </a:pPr>
            <a:r>
              <a:t>Architecture Decision Records: Ticket branches (not discoverable) → Markdown in Git + global log</a:t>
            </a:r>
          </a:p>
          <a:p>
            <a:pPr>
              <a:spcBef>
                <a:spcPts val="600"/>
              </a:spcBef>
              <a:defRPr sz="1300"/>
            </a:pPr>
            <a:r>
              <a:t>Impact assessments: Confluence or email → Markdown in Git + version-controlled</a:t>
            </a:r>
          </a:p>
          <a:p>
            <a:pPr>
              <a:spcBef>
                <a:spcPts val="600"/>
              </a:spcBef>
              <a:defRPr sz="1300"/>
            </a:pPr>
            <a:r>
              <a:t>Service documentation: Confluence (voluntary) → Auto-generated from specs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8F00"/>
                </a:solidFill>
              </a:defRPr>
            </a:pPr>
            <a:r>
              <a:t>Benefits:</a:t>
            </a:r>
          </a:p>
          <a:p>
            <a:pPr>
              <a:spcBef>
                <a:spcPts val="400"/>
              </a:spcBef>
              <a:defRPr sz="1400"/>
            </a:pPr>
            <a:r>
              <a:t>• Pull request reviews on architecture decisions, not just specs</a:t>
            </a:r>
          </a:p>
          <a:p>
            <a:pPr>
              <a:spcBef>
                <a:spcPts val="400"/>
              </a:spcBef>
              <a:defRPr sz="1400"/>
            </a:pPr>
            <a:r>
              <a:t>• AI-readable history - the model analyzes past designs automatically</a:t>
            </a:r>
          </a:p>
          <a:p>
            <a:pPr>
              <a:spcBef>
                <a:spcPts val="400"/>
              </a:spcBef>
              <a:defRPr sz="1400"/>
            </a:pPr>
            <a:r>
              <a:t>• Searchable decision log - ADRs indexed and discoverable</a:t>
            </a:r>
          </a:p>
          <a:p>
            <a:pPr>
              <a:spcBef>
                <a:spcPts val="400"/>
              </a:spcBef>
              <a:defRPr sz="1400"/>
            </a:pPr>
            <a:r>
              <a:t>• Publishable everywhere - MkDocs portal, Confluence API sync, PDF export from one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7474F"/>
                </a:solidFill>
              </a:defRPr>
            </a:pPr>
            <a:r>
              <a:t>Cost Evidence: The Vector Database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F8F00"/>
          </a:solidFill>
          <a:ln w="381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ARCHITECTURAL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GitHub Copilot pre-indexes our entire workspace into a VECTOR DATABASE. All our specs, diagrams, previous designs, domain knowledge - indexed once, used unlimited times. This is amortized across our fixed $39/month subscription.</a:t>
            </a:r>
          </a:p>
          <a:p/>
          <a:p>
            <a:r>
              <a:t>OpenRouter recalculates everything from scratch on every request. Pays per token, every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97B"/>
                </a:solidFill>
              </a:defRPr>
            </a:pPr>
            <a:r>
              <a:t>GitHub Copilot Pro+</a:t>
            </a:r>
          </a:p>
          <a:p>
            <a:pPr>
              <a:spcBef>
                <a:spcPts val="800"/>
              </a:spcBef>
              <a:defRPr sz="1800" b="1"/>
            </a:pPr>
            <a:r>
              <a:t>$39/month fixed subscription</a:t>
            </a:r>
          </a:p>
          <a:p>
            <a:pPr>
              <a:spcBef>
                <a:spcPts val="400"/>
              </a:spcBef>
              <a:defRPr sz="1300"/>
            </a:pPr>
            <a:r>
              <a:t>✓ Vector database indexes workspace once</a:t>
            </a:r>
          </a:p>
          <a:p>
            <a:pPr>
              <a:spcBef>
                <a:spcPts val="400"/>
              </a:spcBef>
              <a:defRPr sz="1300"/>
            </a:pPr>
            <a:r>
              <a:t>✓ Richer context costs nothing extra</a:t>
            </a:r>
          </a:p>
          <a:p>
            <a:pPr>
              <a:spcBef>
                <a:spcPts val="400"/>
              </a:spcBef>
              <a:defRPr sz="1300"/>
            </a:pPr>
            <a:r>
              <a:t>✓ Intent-based billing: only human prompts count</a:t>
            </a:r>
          </a:p>
          <a:p>
            <a:pPr>
              <a:spcBef>
                <a:spcPts val="400"/>
              </a:spcBef>
              <a:defRPr sz="1300"/>
            </a:pPr>
            <a:r>
              <a:t>✓ Autonomous tool calls are FREE</a:t>
            </a:r>
          </a:p>
          <a:p>
            <a:pPr>
              <a:spcBef>
                <a:spcPts val="400"/>
              </a:spcBef>
              <a:defRPr sz="1300"/>
            </a:pPr>
            <a:r>
              <a:t>✓ As workspace grows, cost stays flat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38328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69696"/>
                </a:solidFill>
              </a:defRPr>
            </a:pPr>
            <a:r>
              <a:t>OpenRouter (Per-Token)</a:t>
            </a:r>
          </a:p>
          <a:p>
            <a:pPr>
              <a:spcBef>
                <a:spcPts val="800"/>
              </a:spcBef>
              <a:defRPr sz="1800" b="1"/>
            </a:pPr>
            <a:r>
              <a:t>$155.73 per run (variable)</a:t>
            </a:r>
          </a:p>
          <a:p>
            <a:pPr>
              <a:spcBef>
                <a:spcPts val="400"/>
              </a:spcBef>
              <a:defRPr sz="1300"/>
            </a:pPr>
            <a:r>
              <a:t>✗ Recalculates context every request</a:t>
            </a:r>
          </a:p>
          <a:p>
            <a:pPr>
              <a:spcBef>
                <a:spcPts val="400"/>
              </a:spcBef>
              <a:defRPr sz="1300"/>
            </a:pPr>
            <a:r>
              <a:t>✗ Pays for every token, every time</a:t>
            </a:r>
          </a:p>
          <a:p>
            <a:pPr>
              <a:spcBef>
                <a:spcPts val="400"/>
              </a:spcBef>
              <a:defRPr sz="1300"/>
            </a:pPr>
            <a:r>
              <a:t>✗ No indexing - starts from scratch</a:t>
            </a:r>
          </a:p>
          <a:p>
            <a:pPr>
              <a:spcBef>
                <a:spcPts val="400"/>
              </a:spcBef>
              <a:defRPr sz="1300"/>
            </a:pPr>
            <a:r>
              <a:t>✗ Context size = direct cost</a:t>
            </a:r>
          </a:p>
          <a:p>
            <a:pPr>
              <a:spcBef>
                <a:spcPts val="400"/>
              </a:spcBef>
              <a:defRPr sz="1300"/>
            </a:pPr>
            <a:r>
              <a:t>✗ As workspace grows, cost scales linearly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8F00"/>
                </a:solidFill>
              </a:defRPr>
            </a:pPr>
            <a:r>
              <a:t>Result: 208x cost advantage per run, and the gap widens as our workspace grows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7474F"/>
                </a:solidFill>
              </a:defRPr>
            </a:pPr>
            <a:r>
              <a:t>Output Analysis: What the AI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00897B"/>
                </a:solidFill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complete architecture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474F"/>
                </a:solidFill>
              </a:defRPr>
            </a:pPr>
            <a:r>
              <a:t>From 5 Complex Scenarios:</a:t>
            </a:r>
          </a:p>
          <a:p>
            <a:pPr>
              <a:spcBef>
                <a:spcPts val="800"/>
              </a:spcBef>
              <a:defRPr sz="1400"/>
            </a:pPr>
            <a:r>
              <a:t>✓ Solution designs following arc42 structure</a:t>
            </a:r>
          </a:p>
          <a:p>
            <a:pPr>
              <a:spcBef>
                <a:spcPts val="800"/>
              </a:spcBef>
              <a:defRPr sz="1400"/>
            </a:pPr>
            <a:r>
              <a:t>✓ Impact assessments for all affected services</a:t>
            </a:r>
          </a:p>
          <a:p>
            <a:pPr>
              <a:spcBef>
                <a:spcPts val="800"/>
              </a:spcBef>
              <a:defRPr sz="1400"/>
            </a:pPr>
            <a:r>
              <a:t>✓ MADR-formatted Architecture Decision Records</a:t>
            </a:r>
          </a:p>
          <a:p>
            <a:pPr>
              <a:spcBef>
                <a:spcPts val="800"/>
              </a:spcBef>
              <a:defRPr sz="1400"/>
            </a:pPr>
            <a:r>
              <a:t>✓ Implementation guidance with code patterns</a:t>
            </a:r>
          </a:p>
          <a:p>
            <a:pPr>
              <a:spcBef>
                <a:spcPts val="800"/>
              </a:spcBef>
              <a:defRPr sz="1400"/>
            </a:pPr>
            <a:r>
              <a:t>✓ User stories with acceptance criteria</a:t>
            </a:r>
          </a:p>
          <a:p>
            <a:pPr>
              <a:spcBef>
                <a:spcPts val="800"/>
              </a:spcBef>
              <a:defRPr sz="1400"/>
            </a:pPr>
            <a:r>
              <a:t>✓ PlantUML C4 diagrams with proper notation</a:t>
            </a:r>
          </a:p>
          <a:p>
            <a:pPr>
              <a:spcBef>
                <a:spcPts val="800"/>
              </a:spcBef>
              <a:defRPr sz="1400"/>
            </a:pPr>
            <a:r>
              <a:t>✓ OpenAPI spec updates from approved designs</a:t>
            </a:r>
          </a:p>
          <a:p>
            <a:pPr>
              <a:spcBef>
                <a:spcPts val="800"/>
              </a:spcBef>
              <a:defRPr sz="1400"/>
            </a:pPr>
            <a:r>
              <a:t>✓ Investigation reports grounded in logs and source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8F00"/>
                </a:solidFill>
              </a:defRPr>
            </a:pPr>
            <a:r>
              <a:t>Accuracy Assessment:</a:t>
            </a:r>
          </a:p>
          <a:p>
            <a:pPr>
              <a:spcBef>
                <a:spcPts val="1000"/>
              </a:spcBef>
              <a:defRPr sz="1500"/>
            </a:pPr>
            <a:r>
              <a:t>Zero fabricated data - all analysis grounded in workspace evidence</a:t>
            </a:r>
          </a:p>
          <a:p>
            <a:pPr>
              <a:spcBef>
                <a:spcPts val="800"/>
              </a:spcBef>
              <a:defRPr sz="1500"/>
            </a:pPr>
            <a:r>
              <a:t>MADR, arc42, and C4 model standards followed correctly</a:t>
            </a:r>
          </a:p>
          <a:p>
            <a:pPr>
              <a:spcBef>
                <a:spcPts val="800"/>
              </a:spcBef>
              <a:defRPr sz="1500"/>
            </a:pPr>
            <a:r>
              <a:t>Completeness: 39 files vs 37 from per-token alternative</a:t>
            </a:r>
          </a:p>
          <a:p>
            <a:pPr>
              <a:spcBef>
                <a:spcPts val="800"/>
              </a:spcBef>
              <a:defRPr sz="1500"/>
            </a:pPr>
            <a:r>
              <a:t>Accuracy: 0 hallucinated fields vs 4 from per-token alternative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7474F"/>
                </a:solidFill>
              </a:defRPr>
            </a:pPr>
            <a:r>
              <a:t>Pillar 3: Automated Publishing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97B"/>
                </a:solidFill>
              </a:defRPr>
            </a:pPr>
            <a:r>
              <a:t>Replaces the voluntary manual Confluence step with: git push → portal automatically updated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474F"/>
                </a:solidFill>
              </a:defRPr>
            </a:pPr>
            <a:r>
              <a:t>What Gets Auto-Published:</a:t>
            </a:r>
          </a:p>
          <a:p>
            <a:pPr>
              <a:spcBef>
                <a:spcPts val="800"/>
              </a:spcBef>
              <a:defRPr sz="1600"/>
            </a:pPr>
            <a:r>
              <a:t>• 19 microservice deep-dive pages</a:t>
            </a:r>
          </a:p>
          <a:p>
            <a:pPr>
              <a:spcBef>
                <a:spcPts val="800"/>
              </a:spcBef>
              <a:defRPr sz="1600"/>
            </a:pPr>
            <a:r>
              <a:t>• 139 endpoint sequence diagrams (SVG)</a:t>
            </a:r>
          </a:p>
          <a:p>
            <a:pPr>
              <a:spcBef>
                <a:spcPts val="800"/>
              </a:spcBef>
              <a:defRPr sz="1600"/>
            </a:pPr>
            <a:r>
              <a:t>• 20 C4 context diagrams</a:t>
            </a:r>
          </a:p>
          <a:p>
            <a:pPr>
              <a:spcBef>
                <a:spcPts val="800"/>
              </a:spcBef>
              <a:defRPr sz="1600"/>
            </a:pPr>
            <a:r>
              <a:t>• 19 Swagger UI pages (interactive)</a:t>
            </a:r>
          </a:p>
          <a:p>
            <a:pPr>
              <a:spcBef>
                <a:spcPts val="800"/>
              </a:spcBef>
              <a:defRPr sz="1600"/>
            </a:pPr>
            <a:r>
              <a:t>• 11 Architecture Decision Records</a:t>
            </a:r>
          </a:p>
          <a:p>
            <a:pPr>
              <a:spcBef>
                <a:spcPts val="800"/>
              </a:spcBef>
              <a:defRPr sz="1600"/>
            </a:pPr>
            <a:r>
              <a:t>• Full-text search across all docs</a:t>
            </a:r>
          </a:p>
          <a:p>
            <a:pPr>
              <a:spcBef>
                <a:spcPts val="800"/>
              </a:spcBef>
              <a:defRPr sz="1600"/>
            </a:pPr>
            <a:r>
              <a:t>• Cross-service navigation with deep linking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7474F"/>
                </a:solidFill>
              </a:defRPr>
            </a:pPr>
            <a:r>
              <a:t>Before vs After:</a:t>
            </a:r>
          </a:p>
          <a:p>
            <a:pPr>
              <a:spcBef>
                <a:spcPts val="1200"/>
              </a:spcBef>
              <a:defRPr sz="1600" b="1">
                <a:solidFill>
                  <a:srgbClr val="960000"/>
                </a:solidFill>
              </a:defRPr>
            </a:pPr>
            <a:r>
              <a:t>BEFORE:</a:t>
            </a:r>
          </a:p>
          <a:p>
            <a:pPr lvl="1">
              <a:defRPr sz="1400"/>
            </a:pPr>
            <a:r>
              <a:t>Voluntary Confluence update (often skipped)</a:t>
            </a:r>
          </a:p>
          <a:p>
            <a:pPr lvl="1">
              <a:defRPr sz="1400"/>
            </a:pPr>
            <a:r>
              <a:t>Manual diagram re-rendering</a:t>
            </a:r>
          </a:p>
          <a:p>
            <a:pPr lvl="1">
              <a:defRPr sz="1400"/>
            </a:pPr>
            <a:r>
              <a:t>Broken cross-service links</a:t>
            </a:r>
          </a:p>
          <a:p>
            <a:pPr>
              <a:spcBef>
                <a:spcPts val="1600"/>
              </a:spcBef>
              <a:defRPr sz="1600" b="1">
                <a:solidFill>
                  <a:srgbClr val="00897B"/>
                </a:solidFill>
              </a:defRPr>
            </a:pPr>
            <a:r>
              <a:t>AFTER:</a:t>
            </a:r>
          </a:p>
          <a:p>
            <a:pPr lvl="1">
              <a:defRPr sz="1400"/>
            </a:pPr>
            <a:r>
              <a:t>git push (automatic, never skipped)</a:t>
            </a:r>
          </a:p>
          <a:p>
            <a:pPr lvl="1">
              <a:defRPr sz="1400"/>
            </a:pPr>
            <a:r>
              <a:t>Auto-rendered diagrams</a:t>
            </a:r>
          </a:p>
          <a:p>
            <a:pPr lvl="1">
              <a:defRPr sz="1400"/>
            </a:pPr>
            <a:r>
              <a:t>Auto-generated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Publishing Cost: $0 (Azure Static Web Apps free tier + MkDocs Material open source)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Live Demo: The Architecture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solidFill>
            <a:srgbClr val="00897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Live Demo:</a:t>
            </a:r>
          </a:p>
          <a:p>
            <a:pPr algn="ctr"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>
                <a:hlinkClick r:id="rId2"/>
              </a:rPr>
              <a:t>https://mango-sand-083b8ce0f.4.azurestaticapps.net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7474F"/>
                </a:solidFill>
              </a:defRPr>
            </a:pPr>
            <a:r>
              <a:t>What to Explore in the Live Portal:</a:t>
            </a:r>
          </a:p>
          <a:p>
            <a:pPr>
              <a:spcBef>
                <a:spcPts val="800"/>
              </a:spcBef>
              <a:defRPr sz="1600"/>
            </a:pPr>
            <a:r>
              <a:t>• 19 microservice deep-dive pages - auto-generated from OpenAPI specs</a:t>
            </a:r>
          </a:p>
          <a:p>
            <a:pPr>
              <a:spcBef>
                <a:spcPts val="800"/>
              </a:spcBef>
              <a:defRPr sz="1600"/>
            </a:pPr>
            <a:r>
              <a:t>• 139 clickable SVG sequence diagrams - every endpoint documented with deep linking</a:t>
            </a:r>
          </a:p>
          <a:p>
            <a:pPr>
              <a:spcBef>
                <a:spcPts val="800"/>
              </a:spcBef>
              <a:defRPr sz="1600"/>
            </a:pPr>
            <a:r>
              <a:t>• Interactive Swagger UI - try-it-out capable API documentation</a:t>
            </a:r>
          </a:p>
          <a:p>
            <a:pPr>
              <a:spcBef>
                <a:spcPts val="800"/>
              </a:spcBef>
              <a:defRPr sz="1600"/>
            </a:pPr>
            <a:r>
              <a:t>• Enterprise C4 diagram - all services with PCI compliance zone highlighted</a:t>
            </a:r>
          </a:p>
          <a:p>
            <a:pPr>
              <a:spcBef>
                <a:spcPts val="800"/>
              </a:spcBef>
              <a:defRPr sz="1600"/>
            </a:pPr>
            <a:r>
              <a:t>• Global architecture decision log - 11 ADRs with cross-references</a:t>
            </a:r>
          </a:p>
          <a:p>
            <a:pPr>
              <a:spcBef>
                <a:spcPts val="800"/>
              </a:spcBef>
              <a:defRPr sz="1600"/>
            </a:pPr>
            <a:r>
              <a:t>• Full-text search - instant results across all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7474F"/>
                </a:solidFill>
              </a:defRPr>
            </a:pPr>
            <a:r>
              <a:t>Pillar 4: Closing the Loop (PROMOTE)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8F00"/>
                </a:solidFill>
              </a:defRPr>
            </a:pPr>
            <a:r>
              <a:t>Gap 2: The Problem We've Never Solved</a:t>
            </a:r>
          </a:p>
          <a:p>
            <a:pPr>
              <a:spcBef>
                <a:spcPts val="800"/>
              </a:spcBef>
              <a:defRPr sz="1600"/>
            </a:pPr>
            <a:r>
              <a:t>After deployment, we never reconcile what was BUILT vs what was DESIGNED. Specs describe intent. Production code may differ. Nobody closes this gap.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897B"/>
                </a:solidFill>
              </a:defRPr>
            </a:pPr>
            <a:r>
              <a:t>INTAKE → INVESTIGATE → DESIGN → BUILD → DEPLOY → PROMOTE →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7474F"/>
                </a:solidFill>
              </a:defRPr>
            </a:pPr>
            <a:r>
              <a:t>What the PROMOTE Step Does:</a:t>
            </a:r>
          </a:p>
          <a:p>
            <a:pPr>
              <a:spcBef>
                <a:spcPts val="800"/>
              </a:spcBef>
              <a:defRPr sz="1500"/>
            </a:pPr>
            <a:r>
              <a:t>• Reconcile specs against reality - verify what was actually built</a:t>
            </a:r>
          </a:p>
          <a:p>
            <a:pPr>
              <a:spcBef>
                <a:spcPts val="800"/>
              </a:spcBef>
              <a:defRPr sz="1500"/>
            </a:pPr>
            <a:r>
              <a:t>• Update OpenAPI specs to reflect production behavior, not just design intent</a:t>
            </a:r>
          </a:p>
          <a:p>
            <a:pPr>
              <a:spcBef>
                <a:spcPts val="800"/>
              </a:spcBef>
              <a:defRPr sz="1500"/>
            </a:pPr>
            <a:r>
              <a:t>• Promote ticket-level ADRs to the global searchable decision log</a:t>
            </a:r>
          </a:p>
          <a:p>
            <a:pPr>
              <a:spcBef>
                <a:spcPts val="800"/>
              </a:spcBef>
              <a:defRPr sz="1500"/>
            </a:pPr>
            <a:r>
              <a:t>• Update service baseline pages with current state</a:t>
            </a:r>
          </a:p>
          <a:p>
            <a:pPr>
              <a:spcBef>
                <a:spcPts val="800"/>
              </a:spcBef>
              <a:defRPr sz="1500"/>
            </a:pPr>
            <a:r>
              <a:t>• Create audit trail of design → reality reconciliation</a:t>
            </a:r>
          </a:p>
          <a:p>
            <a:pPr>
              <a:spcBef>
                <a:spcPts val="800"/>
              </a:spcBef>
              <a:defRPr sz="1500"/>
            </a:pPr>
            <a:r>
              <a:t>• Make architectural knowledge discoverable for the next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7474F"/>
                </a:solidFill>
              </a:defRPr>
            </a:pPr>
            <a:r>
              <a:t>Roadmap: Six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0897B"/>
                </a:solidFill>
              </a:defRPr>
            </a:pPr>
            <a:r>
              <a:t>Phase 1: AI Toolchain Comparison - COMPLETE - March 2026</a:t>
            </a:r>
          </a:p>
          <a:p>
            <a:pPr lvl="1">
              <a:spcBef>
                <a:spcPts val="400"/>
              </a:spcBef>
              <a:defRPr sz="1300"/>
            </a:pPr>
            <a:r>
              <a:t>Cost comparison, output analysis, toolchain recommendation (Copilot Pro+)</a:t>
            </a:r>
          </a:p>
          <a:p>
            <a:pPr>
              <a:spcBef>
                <a:spcPts val="1200"/>
              </a:spcBef>
              <a:defRPr sz="1600" b="1">
                <a:solidFill>
                  <a:srgbClr val="37474F"/>
                </a:solidFill>
              </a:defRPr>
            </a:pPr>
            <a:r>
              <a:t>Phase 2: AI-Integrated Workflow Design - April - May 2026</a:t>
            </a:r>
          </a:p>
          <a:p>
            <a:pPr lvl="1">
              <a:spcBef>
                <a:spcPts val="400"/>
              </a:spcBef>
              <a:defRPr sz="1300"/>
            </a:pPr>
            <a:r>
              <a:t>Standardized AI workflows, PROMOTE playbook, execution prompt library</a:t>
            </a:r>
          </a:p>
          <a:p>
            <a:pPr>
              <a:spcBef>
                <a:spcPts val="1200"/>
              </a:spcBef>
              <a:defRPr sz="1600" b="1">
                <a:solidFill>
                  <a:srgbClr val="37474F"/>
                </a:solidFill>
              </a:defRPr>
            </a:pPr>
            <a:r>
              <a:t>Phase 3: Pipeline Integration - May - June 2026</a:t>
            </a:r>
          </a:p>
          <a:p>
            <a:pPr lvl="1">
              <a:spcBef>
                <a:spcPts val="400"/>
              </a:spcBef>
              <a:defRPr sz="1300"/>
            </a:pPr>
            <a:r>
              <a:t>CI/CD validation gates, automated spec linting, quality checks</a:t>
            </a:r>
          </a:p>
          <a:p>
            <a:pPr>
              <a:spcBef>
                <a:spcPts val="1200"/>
              </a:spcBef>
              <a:defRPr sz="1600" b="1">
                <a:solidFill>
                  <a:srgbClr val="37474F"/>
                </a:solidFill>
              </a:defRPr>
            </a:pPr>
            <a:r>
              <a:t>Phase 4: Navigable Artifact Graph - June - July 2026</a:t>
            </a:r>
          </a:p>
          <a:p>
            <a:pPr lvl="1">
              <a:spcBef>
                <a:spcPts val="400"/>
              </a:spcBef>
              <a:defRPr sz="1300"/>
            </a:pPr>
            <a:r>
              <a:t>Bidirectional traceability, artifact graph, backlink generation</a:t>
            </a:r>
          </a:p>
          <a:p>
            <a:pPr>
              <a:spcBef>
                <a:spcPts val="1200"/>
              </a:spcBef>
              <a:defRPr sz="1600" b="1">
                <a:solidFill>
                  <a:srgbClr val="37474F"/>
                </a:solidFill>
              </a:defRPr>
            </a:pPr>
            <a:r>
              <a:t>Phase 5: Continuous Improvement Loop - July - August 2026</a:t>
            </a:r>
          </a:p>
          <a:p>
            <a:pPr lvl="1">
              <a:spcBef>
                <a:spcPts val="400"/>
              </a:spcBef>
              <a:defRPr sz="1300"/>
            </a:pPr>
            <a:r>
              <a:t>Quality metrics, pattern identification, AI instruction optimization</a:t>
            </a:r>
          </a:p>
          <a:p>
            <a:pPr>
              <a:spcBef>
                <a:spcPts val="1200"/>
              </a:spcBef>
              <a:defRPr sz="1600" b="1">
                <a:solidFill>
                  <a:srgbClr val="00897B"/>
                </a:solidFill>
              </a:defRPr>
            </a:pPr>
            <a:r>
              <a:t>Phase 6: Documentation Publishing - COMPLETE - March 2026</a:t>
            </a:r>
          </a:p>
          <a:p>
            <a:pPr lvl="1">
              <a:spcBef>
                <a:spcPts val="400"/>
              </a:spcBef>
              <a:defRPr sz="1300"/>
            </a:pPr>
            <a:r>
              <a:t>Live architecture portal with automated publishing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37474F"/>
                </a:solidFill>
              </a:defRPr>
            </a:pPr>
            <a:r>
              <a:t>The Ask: What We Need to Proceed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1. GitHub Copilot Licenses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$39/month per seat</a:t>
            </a:r>
          </a:p>
          <a:p>
            <a:r>
              <a:t>Fixed subscription - no variable costs</a:t>
            </a:r>
          </a:p>
          <a:p>
            <a:r>
              <a:t>Vector database indexing</a:t>
            </a:r>
          </a:p>
          <a:p>
            <a:r>
              <a:t>Start with architecture team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84048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2. Markdown in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1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Extend our Git-first practice</a:t>
            </a:r>
          </a:p>
          <a:p>
            <a:r>
              <a:t>Solution designs in Markdown</a:t>
            </a:r>
          </a:p>
          <a:p>
            <a:r>
              <a:t>Pull request reviews on ADRs</a:t>
            </a:r>
          </a:p>
          <a:p>
            <a:r>
              <a:t>AI reads designs in future 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84048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3. Automated Publishing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5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Azure Static Web Apps (free tier)</a:t>
            </a:r>
          </a:p>
          <a:p>
            <a:r>
              <a:t>git push → portal updated</a:t>
            </a:r>
          </a:p>
          <a:p>
            <a:r>
              <a:t>Replaces manual Confluence step</a:t>
            </a:r>
          </a:p>
          <a:p>
            <a:r>
              <a:t>$0 infrastructure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474720"/>
            <a:ext cx="3840480" cy="1920240"/>
          </a:xfrm>
          <a:prstGeom prst="rect">
            <a:avLst/>
          </a:prstGeom>
          <a:solidFill>
            <a:srgbClr val="F5F5F5"/>
          </a:solidFill>
          <a:ln w="25400">
            <a:solidFill>
              <a:srgbClr val="008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97B"/>
                </a:solidFill>
              </a:defRPr>
            </a:pPr>
            <a:r>
              <a:t>4. Optional: Confluence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59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/>
            </a:pPr>
            <a:r>
              <a:t>Sync Markdown to Confluence</a:t>
            </a:r>
          </a:p>
          <a:p>
            <a:r>
              <a:t>Git remains source of truth</a:t>
            </a:r>
          </a:p>
          <a:p>
            <a:r>
              <a:t>Confluence becomes read-only mirror</a:t>
            </a:r>
          </a:p>
          <a:p>
            <a:r>
              <a:t>No dual maintenance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F00"/>
                </a:solidFill>
              </a:defRPr>
            </a:pPr>
            <a:r>
              <a:t>Total Monthly Cost: $39/seat (Copilot) + $0 (Azure free tier) = $39/seat</a:t>
            </a:r>
          </a:p>
          <a:p>
            <a:pPr algn="ctr">
              <a:spcBef>
                <a:spcPts val="800"/>
              </a:spcBef>
              <a:defRPr sz="1600"/>
            </a:pPr>
            <a:r>
              <a:t>Next Steps: Pilot with architecture team (1 month) → Measure quality → Expand if successful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